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8" r:id="rId3"/>
    <p:sldId id="271" r:id="rId4"/>
    <p:sldId id="272" r:id="rId5"/>
    <p:sldId id="275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06151-97C1-4722-9376-AC4168AA3957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AD421F-7FF6-45E1-80A3-0030D7844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43D39294-7179-9422-DABA-2F8C1936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66" b="-1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916930-E76E-4100-9DCF-4981566A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93031" y="1885950"/>
            <a:ext cx="6379369" cy="3152775"/>
          </a:xfrm>
          <a:prstGeom prst="rect">
            <a:avLst/>
          </a:prstGeom>
          <a:solidFill>
            <a:schemeClr val="bg1">
              <a:alpha val="75000"/>
            </a:schemeClr>
          </a:solidFill>
          <a:ln w="63500" cmpd="dbl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7900"/>
            <a:ext cx="6400800" cy="2514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Event Hub</a:t>
            </a:r>
            <a:br>
              <a:rPr lang="en-US" sz="57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Group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9DC72-7223-1D6E-0493-34378B55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F8FB2A-FD8B-A57D-DF7E-3577D02D3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7533" y="292902"/>
            <a:ext cx="4218089" cy="41980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 b="1" dirty="0"/>
              <a:t>Team Members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202412079-Rajvi Khatri</a:t>
            </a:r>
            <a:br>
              <a:rPr lang="en-US" sz="2400" b="1" dirty="0"/>
            </a:br>
            <a:r>
              <a:rPr lang="en-US" sz="2400" b="1" dirty="0"/>
              <a:t>202412013-Parth Chauhan</a:t>
            </a:r>
            <a:br>
              <a:rPr lang="en-US" sz="2400" b="1" dirty="0"/>
            </a:br>
            <a:r>
              <a:rPr lang="en-US" sz="2400" b="1" dirty="0"/>
              <a:t>202412101-Yashvi Shah</a:t>
            </a:r>
            <a:br>
              <a:rPr lang="en-US" sz="2400" b="1" dirty="0"/>
            </a:br>
            <a:r>
              <a:rPr lang="en-US" sz="2400" b="1" dirty="0"/>
              <a:t>202412119-Ritik Kalal</a:t>
            </a:r>
            <a:br>
              <a:rPr lang="en-US" sz="2400" b="1" dirty="0"/>
            </a:br>
            <a:r>
              <a:rPr lang="en-US" sz="2400" b="1" dirty="0"/>
              <a:t>202412026-Tisha Jain</a:t>
            </a:r>
            <a:br>
              <a:rPr lang="en-US" sz="2400" b="1" dirty="0"/>
            </a:br>
            <a:r>
              <a:rPr lang="en-US" sz="2400" b="1" dirty="0"/>
              <a:t>202412029-Preksha Joshi</a:t>
            </a:r>
            <a:br>
              <a:rPr lang="en-US" sz="2400" b="1" dirty="0"/>
            </a:br>
            <a:r>
              <a:rPr lang="en-US" sz="2400" b="1" dirty="0"/>
              <a:t>202412066-Dhruv Patel</a:t>
            </a:r>
            <a:br>
              <a:rPr lang="en-US" sz="2400" b="1" dirty="0"/>
            </a:br>
            <a:r>
              <a:rPr lang="en-US" sz="2400" b="1" dirty="0"/>
              <a:t>202412032-Kaival Shah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8D32C3D-8F76-4E99-BE56-0836CC38C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3703" y="0"/>
            <a:ext cx="1897292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766076-46F5-42D5-A773-2B3BEF2B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4181" y="0"/>
            <a:ext cx="186474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A crowd in a party">
            <a:extLst>
              <a:ext uri="{FF2B5EF4-FFF2-40B4-BE49-F238E27FC236}">
                <a16:creationId xmlns:a16="http://schemas.microsoft.com/office/drawing/2014/main" id="{39704FE7-0E25-F1B4-E293-F96A5D4A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81" r="35546" b="-1"/>
          <a:stretch>
            <a:fillRect/>
          </a:stretch>
        </p:blipFill>
        <p:spPr>
          <a:xfrm>
            <a:off x="-1130" y="10"/>
            <a:ext cx="3904463" cy="6857990"/>
          </a:xfrm>
          <a:custGeom>
            <a:avLst/>
            <a:gdLst/>
            <a:ahLst/>
            <a:cxnLst/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B7B90D9-1EC2-4A12-B24A-342C1BCA2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9304" y="0"/>
            <a:ext cx="2134029" cy="6858000"/>
          </a:xfrm>
          <a:custGeom>
            <a:avLst/>
            <a:gdLst>
              <a:gd name="connsiteX0" fmla="*/ 939908 w 2845372"/>
              <a:gd name="connsiteY0" fmla="*/ 0 h 6858000"/>
              <a:gd name="connsiteX1" fmla="*/ 1222349 w 2845372"/>
              <a:gd name="connsiteY1" fmla="*/ 0 h 6858000"/>
              <a:gd name="connsiteX2" fmla="*/ 1244473 w 2845372"/>
              <a:gd name="connsiteY2" fmla="*/ 14997 h 6858000"/>
              <a:gd name="connsiteX3" fmla="*/ 2845372 w 2845372"/>
              <a:gd name="connsiteY3" fmla="*/ 3621656 h 6858000"/>
              <a:gd name="connsiteX4" fmla="*/ 971022 w 2845372"/>
              <a:gd name="connsiteY4" fmla="*/ 6374814 h 6858000"/>
              <a:gd name="connsiteX5" fmla="*/ 454374 w 2845372"/>
              <a:gd name="connsiteY5" fmla="*/ 6780599 h 6858000"/>
              <a:gd name="connsiteX6" fmla="*/ 342618 w 2845372"/>
              <a:gd name="connsiteY6" fmla="*/ 6858000 h 6858000"/>
              <a:gd name="connsiteX7" fmla="*/ 129116 w 2845372"/>
              <a:gd name="connsiteY7" fmla="*/ 6858000 h 6858000"/>
              <a:gd name="connsiteX8" fmla="*/ 0 w 2845372"/>
              <a:gd name="connsiteY8" fmla="*/ 6858000 h 6858000"/>
              <a:gd name="connsiteX9" fmla="*/ 119401 w 2845372"/>
              <a:gd name="connsiteY9" fmla="*/ 6780599 h 6858000"/>
              <a:gd name="connsiteX10" fmla="*/ 671389 w 2845372"/>
              <a:gd name="connsiteY10" fmla="*/ 6374814 h 6858000"/>
              <a:gd name="connsiteX11" fmla="*/ 2673952 w 2845372"/>
              <a:gd name="connsiteY11" fmla="*/ 3621656 h 6858000"/>
              <a:gd name="connsiteX12" fmla="*/ 963545 w 2845372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45372" h="6858000">
                <a:moveTo>
                  <a:pt x="939908" y="0"/>
                </a:moveTo>
                <a:lnTo>
                  <a:pt x="1222349" y="0"/>
                </a:lnTo>
                <a:lnTo>
                  <a:pt x="1244473" y="14997"/>
                </a:lnTo>
                <a:cubicBezTo>
                  <a:pt x="2271636" y="754641"/>
                  <a:pt x="2845372" y="2093192"/>
                  <a:pt x="2845372" y="3621656"/>
                </a:cubicBezTo>
                <a:cubicBezTo>
                  <a:pt x="2845372" y="4969131"/>
                  <a:pt x="1916647" y="5602839"/>
                  <a:pt x="971022" y="6374814"/>
                </a:cubicBezTo>
                <a:cubicBezTo>
                  <a:pt x="798819" y="6515397"/>
                  <a:pt x="628192" y="6653108"/>
                  <a:pt x="454374" y="6780599"/>
                </a:cubicBezTo>
                <a:lnTo>
                  <a:pt x="342618" y="6858000"/>
                </a:lnTo>
                <a:lnTo>
                  <a:pt x="129116" y="6858000"/>
                </a:lnTo>
                <a:lnTo>
                  <a:pt x="0" y="6858000"/>
                </a:lnTo>
                <a:lnTo>
                  <a:pt x="119401" y="6780599"/>
                </a:lnTo>
                <a:cubicBezTo>
                  <a:pt x="305108" y="6653108"/>
                  <a:pt x="487407" y="6515397"/>
                  <a:pt x="671389" y="6374814"/>
                </a:cubicBezTo>
                <a:cubicBezTo>
                  <a:pt x="1681699" y="5602839"/>
                  <a:pt x="2673952" y="4969131"/>
                  <a:pt x="2673952" y="3621656"/>
                </a:cubicBezTo>
                <a:cubicBezTo>
                  <a:pt x="2673952" y="2093192"/>
                  <a:pt x="2060970" y="754641"/>
                  <a:pt x="963545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641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25B57-34BC-4429-972F-56EF4E01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638" y="637762"/>
            <a:ext cx="7416372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Added New Feature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380F0E-BB1E-A561-F200-1AB217FAB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661" y="2217343"/>
            <a:ext cx="7410669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Description: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A digital event passport that stores all events attended by a user.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It tracks their participation and gives real rewards like free entries or heavy discounts based on how many events they attend.</a:t>
            </a:r>
          </a:p>
          <a:p>
            <a:pPr algn="l" defTabSz="914400">
              <a:lnSpc>
                <a:spcPct val="90000"/>
              </a:lnSpc>
            </a:pP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User Story: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As a user, I want a digital event passport so I can see my event history and unlock real perks such as free events or big discounts.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For example: After attending 5 events, the user gets 40% off on any ticket.</a:t>
            </a:r>
          </a:p>
        </p:txBody>
      </p:sp>
    </p:spTree>
    <p:extLst>
      <p:ext uri="{BB962C8B-B14F-4D97-AF65-F5344CB8AC3E}">
        <p14:creationId xmlns:p14="http://schemas.microsoft.com/office/powerpoint/2010/main" val="346686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C0A068-9F65-2457-28AE-650512B4F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Flow Diagram (Level 1)</a:t>
            </a:r>
          </a:p>
        </p:txBody>
      </p:sp>
      <p:pic>
        <p:nvPicPr>
          <p:cNvPr id="14" name="Picture 13" descr="A diagram of a network&#10;&#10;AI-generated content may be incorrect.">
            <a:extLst>
              <a:ext uri="{FF2B5EF4-FFF2-40B4-BE49-F238E27FC236}">
                <a16:creationId xmlns:a16="http://schemas.microsoft.com/office/drawing/2014/main" id="{AD4B4750-B354-8350-D5D0-ABB03A803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303"/>
            <a:ext cx="9144000" cy="546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63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40B9B-0C0D-F0DE-1E1A-5A127012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8F767-095E-BCB3-ECCB-F2A5EB110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Class Diagram </a:t>
            </a:r>
            <a:endParaRPr lang="en-US" sz="2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 descr="A diagram of a computer&#10;&#10;AI-generated content may be incorrect.">
            <a:extLst>
              <a:ext uri="{FF2B5EF4-FFF2-40B4-BE49-F238E27FC236}">
                <a16:creationId xmlns:a16="http://schemas.microsoft.com/office/drawing/2014/main" id="{9F4E3C27-5E1B-141C-08E2-F5135C302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40" b="2222"/>
          <a:stretch/>
        </p:blipFill>
        <p:spPr>
          <a:xfrm>
            <a:off x="1" y="1516285"/>
            <a:ext cx="9144000" cy="52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03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D2826-0DCE-4BE1-867A-602971E5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60650-4DBC-BA63-9D1E-34E4E3DC6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Sequence Diagram 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165367-0061-4AE1-63AD-F1B979C7D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88"/>
            <a:ext cx="9143999" cy="54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8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3A65B-E5C0-9669-D075-CFF121D47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49E6F-57C3-B0ED-F8F4-07B9FD77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Schema Diagram </a:t>
            </a:r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91392EB-0BC4-0F41-1E78-8343556E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7" y="1396588"/>
            <a:ext cx="9125823" cy="54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61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ED39E-48B6-7A24-61C8-4B0D06228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6676" y="548640"/>
            <a:ext cx="7626096" cy="11795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Factory Pattern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CCFBC-BC51-1850-0AA9-338FC1BA2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676" y="2481943"/>
            <a:ext cx="7626096" cy="369502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Definition:</a:t>
            </a:r>
            <a:br>
              <a:rPr lang="en-US" sz="1900">
                <a:solidFill>
                  <a:schemeClr val="tx1"/>
                </a:solidFill>
              </a:rPr>
            </a:br>
            <a:r>
              <a:rPr lang="en-US" sz="1900">
                <a:solidFill>
                  <a:schemeClr val="tx1"/>
                </a:solidFill>
              </a:rPr>
              <a:t>Creates objects without exposing creation logic; lets subclasses decide which class to instantiate.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Why Used:</a:t>
            </a:r>
            <a:endParaRPr lang="en-US" sz="190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Dynamic creation of payment providers.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Multiple notification channels (Email/SMS/In-App).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Easy future extension.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</a:rPr>
              <a:t>Where Used:</a:t>
            </a:r>
            <a:endParaRPr lang="en-US" sz="190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PaymentService → chooses correct payment handler.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>
                <a:solidFill>
                  <a:schemeClr val="tx1"/>
                </a:solidFill>
              </a:rPr>
              <a:t>NotificationService → selects message sender.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76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D73E56-B446-227F-3B4E-8D62B685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 b="1">
                <a:solidFill>
                  <a:schemeClr val="tx1">
                    <a:lumMod val="85000"/>
                    <a:lumOff val="15000"/>
                  </a:schemeClr>
                </a:solidFill>
              </a:rPr>
              <a:t>Strategy Pattern</a:t>
            </a:r>
            <a:br>
              <a:rPr lang="en-IN" sz="3700" b="1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IN" sz="3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4D808-D868-C8BC-EAF4-C5300D031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Definition:</a:t>
            </a:r>
            <a:b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Defines interchangeable algorithms; selects behavior at runtime.</a:t>
            </a:r>
          </a:p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Why Used: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Event benefits vary by scale (Free ticket vs Discount).</a:t>
            </a:r>
          </a:p>
          <a:p>
            <a:pPr>
              <a:buNone/>
            </a:pPr>
            <a:r>
              <a:rPr lang="en-US" sz="1700" b="1">
                <a:solidFill>
                  <a:schemeClr val="tx1">
                    <a:lumMod val="85000"/>
                    <a:lumOff val="15000"/>
                  </a:schemeClr>
                </a:solidFill>
              </a:rPr>
              <a:t>Where Used:</a:t>
            </a:r>
            <a:endParaRPr lang="en-US" sz="17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LoyaltyService → benefit calculation strategies.</a:t>
            </a:r>
          </a:p>
          <a:p>
            <a:endParaRPr lang="en-IN" sz="17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711A-E0FF-B775-06DE-E8199CCF1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Observer Pattern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CE962-B4BF-50AE-2ABD-65583AE38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Definition:</a:t>
            </a:r>
            <a:br>
              <a:rPr lang="en-US" sz="2100" dirty="0">
                <a:solidFill>
                  <a:schemeClr val="tx1"/>
                </a:solidFill>
              </a:rPr>
            </a:br>
            <a:r>
              <a:rPr lang="en-US" sz="2100" dirty="0">
                <a:solidFill>
                  <a:schemeClr val="tx1"/>
                </a:solidFill>
              </a:rPr>
              <a:t>Event triggers automatic updates to multiple listeners.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Why Used: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Booking confirmation → notify attendee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Review submitted → notify organizer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Event published → notify users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Where Used:</a:t>
            </a:r>
            <a:endParaRPr lang="en-US" sz="21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100" dirty="0" err="1">
                <a:solidFill>
                  <a:schemeClr val="tx1"/>
                </a:solidFill>
              </a:rPr>
              <a:t>NotificationService</a:t>
            </a:r>
            <a:r>
              <a:rPr lang="en-US" sz="2100" dirty="0">
                <a:solidFill>
                  <a:schemeClr val="tx1"/>
                </a:solidFill>
              </a:rPr>
              <a:t> listens to creation, review, and payment events.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Eye">
            <a:extLst>
              <a:ext uri="{FF2B5EF4-FFF2-40B4-BE49-F238E27FC236}">
                <a16:creationId xmlns:a16="http://schemas.microsoft.com/office/drawing/2014/main" id="{29F3F0D2-07F9-AF94-DD93-B9F5756C8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74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898A8-E26A-37BB-9ED7-BA78B458C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253397"/>
            <a:ext cx="7886700" cy="12732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Singleton Pattern</a:t>
            </a:r>
            <a:b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5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A7F77-93C7-3F69-696C-8F4ADDFF6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2478024"/>
            <a:ext cx="7886700" cy="369417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Definition:</a:t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1900" dirty="0">
                <a:solidFill>
                  <a:schemeClr val="tx1"/>
                </a:solidFill>
              </a:rPr>
              <a:t>Ensures a single instance of a class throughout the application.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Why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MongoDB connection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</a:t>
            </a:r>
            <a:r>
              <a:rPr lang="en-US" sz="1900" dirty="0" err="1">
                <a:solidFill>
                  <a:schemeClr val="tx1"/>
                </a:solidFill>
              </a:rPr>
              <a:t>Razorpay</a:t>
            </a:r>
            <a:r>
              <a:rPr lang="en-US" sz="1900" dirty="0">
                <a:solidFill>
                  <a:schemeClr val="tx1"/>
                </a:solidFill>
              </a:rPr>
              <a:t> client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One </a:t>
            </a:r>
            <a:r>
              <a:rPr lang="en-US" sz="1900" dirty="0" err="1">
                <a:solidFill>
                  <a:schemeClr val="tx1"/>
                </a:solidFill>
              </a:rPr>
              <a:t>LoyaltyService</a:t>
            </a:r>
            <a:r>
              <a:rPr lang="en-US" sz="1900" dirty="0">
                <a:solidFill>
                  <a:schemeClr val="tx1"/>
                </a:solidFill>
              </a:rPr>
              <a:t> instance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Where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DB connection module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Payment gateway client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Loyalty rule handler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389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1F23-B26E-A2EF-85E3-607CF0537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699" y="687480"/>
            <a:ext cx="5605629" cy="9941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State Pattern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280ED-F25F-8765-B41B-17CB7E07E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321" y="2227943"/>
            <a:ext cx="5033221" cy="37882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Definition:</a:t>
            </a:r>
            <a:br>
              <a:rPr lang="en-US" sz="1900" dirty="0">
                <a:solidFill>
                  <a:schemeClr val="tx1"/>
                </a:solidFill>
              </a:rPr>
            </a:br>
            <a:r>
              <a:rPr lang="en-US" sz="1900" dirty="0">
                <a:solidFill>
                  <a:schemeClr val="tx1"/>
                </a:solidFill>
              </a:rPr>
              <a:t>Object behavior changes based on its internal state.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Why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Booking: pending → confirmed → cancelled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Payment: pending → paid → failed → refunded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Event: draft → published → completed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chemeClr val="tx1"/>
                </a:solidFill>
              </a:rPr>
              <a:t>Where Used: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Booking.status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PaymentOrder.status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chemeClr val="tx1"/>
                </a:solidFill>
              </a:rPr>
              <a:t>Event.status</a:t>
            </a:r>
            <a:endParaRPr lang="en-US" sz="19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7A5F15B8-D3A2-43DD-D7AB-C80C1F1BD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86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60E9C-BF44-E94B-FCC7-35894F2AC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425" y="2073715"/>
            <a:ext cx="5201819" cy="29930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7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BD432D-FAB3-4B5D-BF27-4DA7C75B3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D6B450-4278-45B8-88C7-C061710E3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1883640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4234A4C-A256-4139-A5F4-27078F0D6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799424" y="5066757"/>
            <a:ext cx="5201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72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378</Words>
  <Application>Microsoft Office PowerPoint</Application>
  <PresentationFormat>On-screen Show (4:3)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Meiryo</vt:lpstr>
      <vt:lpstr>Aptos</vt:lpstr>
      <vt:lpstr>Arial</vt:lpstr>
      <vt:lpstr>Calibri</vt:lpstr>
      <vt:lpstr>Office Theme</vt:lpstr>
      <vt:lpstr>Event Hub Group 2</vt:lpstr>
      <vt:lpstr>Team Members  202412079-Rajvi Khatri 202412013-Parth Chauhan 202412101-Yashvi Shah 202412119-Ritik Kalal 202412026-Tisha Jain 202412029-Preksha Joshi 202412066-Dhruv Patel 202412032-Kaival Shah</vt:lpstr>
      <vt:lpstr>Added New Feature </vt:lpstr>
      <vt:lpstr>Data Flow Diagram (Level 1)</vt:lpstr>
      <vt:lpstr>Class Diagram </vt:lpstr>
      <vt:lpstr>Sequence Diagram </vt:lpstr>
      <vt:lpstr>Schema Diagram </vt:lpstr>
      <vt:lpstr>Factory Pattern</vt:lpstr>
      <vt:lpstr>Strategy Pattern </vt:lpstr>
      <vt:lpstr>Observer Pattern </vt:lpstr>
      <vt:lpstr>Singleton Pattern </vt:lpstr>
      <vt:lpstr>State Pattern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ketan khatri</cp:lastModifiedBy>
  <cp:revision>64</cp:revision>
  <dcterms:created xsi:type="dcterms:W3CDTF">2013-01-27T09:14:16Z</dcterms:created>
  <dcterms:modified xsi:type="dcterms:W3CDTF">2025-11-09T19:21:40Z</dcterms:modified>
  <cp:category/>
</cp:coreProperties>
</file>